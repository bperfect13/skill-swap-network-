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2" r:id="rId3"/>
    <p:sldId id="257" r:id="rId4"/>
    <p:sldId id="258" r:id="rId5"/>
    <p:sldId id="273" r:id="rId6"/>
    <p:sldId id="259" r:id="rId7"/>
    <p:sldId id="277" r:id="rId8"/>
    <p:sldId id="278" r:id="rId9"/>
    <p:sldId id="279" r:id="rId10"/>
    <p:sldId id="280" r:id="rId11"/>
    <p:sldId id="281" r:id="rId12"/>
    <p:sldId id="271" r:id="rId13"/>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9" d="100"/>
          <a:sy n="39" d="100"/>
        </p:scale>
        <p:origin x="94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 y="118468"/>
            <a:ext cx="18287999" cy="1800857"/>
          </a:xfrm>
          <a:prstGeom prst="rect">
            <a:avLst/>
          </a:prstGeom>
        </p:spPr>
      </p:pic>
      <p:sp>
        <p:nvSpPr>
          <p:cNvPr id="2" name="Holder 2"/>
          <p:cNvSpPr>
            <a:spLocks noGrp="1"/>
          </p:cNvSpPr>
          <p:nvPr>
            <p:ph type="ctrTitle"/>
          </p:nvPr>
        </p:nvSpPr>
        <p:spPr>
          <a:xfrm>
            <a:off x="6836667" y="553538"/>
            <a:ext cx="4614664" cy="711200"/>
          </a:xfrm>
          <a:prstGeom prst="rect">
            <a:avLst/>
          </a:prstGeom>
        </p:spPr>
        <p:txBody>
          <a:bodyPr wrap="square" lIns="0" tIns="0" rIns="0" bIns="0">
            <a:spAutoFit/>
          </a:bodyPr>
          <a:lstStyle>
            <a:lvl1pPr>
              <a:defRPr sz="45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7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 y="118468"/>
            <a:ext cx="18287999" cy="1800857"/>
          </a:xfrm>
          <a:prstGeom prst="rect">
            <a:avLst/>
          </a:prstGeom>
        </p:spPr>
      </p:pic>
      <p:sp>
        <p:nvSpPr>
          <p:cNvPr id="2" name="Holder 2"/>
          <p:cNvSpPr>
            <a:spLocks noGrp="1"/>
          </p:cNvSpPr>
          <p:nvPr>
            <p:ph type="title"/>
          </p:nvPr>
        </p:nvSpPr>
        <p:spPr/>
        <p:txBody>
          <a:bodyPr lIns="0" tIns="0" rIns="0" bIns="0"/>
          <a:lstStyle>
            <a:lvl1pPr>
              <a:defRPr sz="45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7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4F4F4"/>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958925" y="553538"/>
            <a:ext cx="4370149" cy="711200"/>
          </a:xfrm>
          <a:prstGeom prst="rect">
            <a:avLst/>
          </a:prstGeom>
        </p:spPr>
        <p:txBody>
          <a:bodyPr wrap="square" lIns="0" tIns="0" rIns="0" bIns="0">
            <a:spAutoFit/>
          </a:bodyPr>
          <a:lstStyle>
            <a:lvl1pPr>
              <a:defRPr sz="45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814760" y="2389508"/>
            <a:ext cx="15300325" cy="4997450"/>
          </a:xfrm>
          <a:prstGeom prst="rect">
            <a:avLst/>
          </a:prstGeom>
        </p:spPr>
        <p:txBody>
          <a:bodyPr wrap="square" lIns="0" tIns="0" rIns="0" bIns="0">
            <a:spAutoFit/>
          </a:bodyPr>
          <a:lstStyle>
            <a:lvl1pPr>
              <a:defRPr sz="37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704791"/>
            <a:ext cx="5570751" cy="5582208"/>
          </a:xfrm>
          <a:prstGeom prst="rect">
            <a:avLst/>
          </a:prstGeom>
        </p:spPr>
      </p:pic>
      <p:sp>
        <p:nvSpPr>
          <p:cNvPr id="3" name="object 3"/>
          <p:cNvSpPr txBox="1">
            <a:spLocks noGrp="1"/>
          </p:cNvSpPr>
          <p:nvPr>
            <p:ph type="title"/>
          </p:nvPr>
        </p:nvSpPr>
        <p:spPr>
          <a:xfrm>
            <a:off x="3924738" y="367325"/>
            <a:ext cx="13221581" cy="1454885"/>
          </a:xfrm>
          <a:prstGeom prst="rect">
            <a:avLst/>
          </a:prstGeom>
        </p:spPr>
        <p:txBody>
          <a:bodyPr vert="horz" wrap="square" lIns="0" tIns="12065" rIns="0" bIns="0" rtlCol="0">
            <a:spAutoFit/>
          </a:bodyPr>
          <a:lstStyle/>
          <a:p>
            <a:pPr marL="1911985" marR="5080" indent="-1899920">
              <a:lnSpc>
                <a:spcPct val="116300"/>
              </a:lnSpc>
              <a:spcBef>
                <a:spcPts val="95"/>
              </a:spcBef>
            </a:pPr>
            <a:r>
              <a:rPr lang="en-IN" sz="8800" spc="-30" dirty="0">
                <a:solidFill>
                  <a:srgbClr val="292E3A"/>
                </a:solidFill>
                <a:latin typeface="Yu Gothic UI Semibold" panose="020B0700000000000000" pitchFamily="34" charset="-128"/>
                <a:ea typeface="Yu Gothic UI Semibold" panose="020B0700000000000000" pitchFamily="34" charset="-128"/>
              </a:rPr>
              <a:t>The Skill Swap Network </a:t>
            </a:r>
            <a:endParaRPr sz="8800" dirty="0">
              <a:latin typeface="Yu Gothic UI Semibold" panose="020B0700000000000000" pitchFamily="34" charset="-128"/>
              <a:ea typeface="Yu Gothic UI Semibold" panose="020B0700000000000000" pitchFamily="34" charset="-128"/>
            </a:endParaRPr>
          </a:p>
        </p:txBody>
      </p:sp>
      <p:sp>
        <p:nvSpPr>
          <p:cNvPr id="4" name="object 4"/>
          <p:cNvSpPr txBox="1"/>
          <p:nvPr/>
        </p:nvSpPr>
        <p:spPr>
          <a:xfrm>
            <a:off x="4191000" y="4193011"/>
            <a:ext cx="10839231" cy="5072864"/>
          </a:xfrm>
          <a:prstGeom prst="rect">
            <a:avLst/>
          </a:prstGeom>
        </p:spPr>
        <p:txBody>
          <a:bodyPr vert="horz" wrap="square" lIns="0" tIns="12700" rIns="0" bIns="0" rtlCol="0">
            <a:spAutoFit/>
          </a:bodyPr>
          <a:lstStyle/>
          <a:p>
            <a:pPr marL="12700">
              <a:lnSpc>
                <a:spcPct val="100000"/>
              </a:lnSpc>
              <a:spcBef>
                <a:spcPts val="100"/>
              </a:spcBef>
            </a:pPr>
            <a:r>
              <a:rPr sz="4000" b="1" spc="-50" dirty="0">
                <a:latin typeface="Times New Roman"/>
                <a:cs typeface="Times New Roman"/>
              </a:rPr>
              <a:t>Project</a:t>
            </a:r>
            <a:r>
              <a:rPr sz="4000" b="1" spc="-235" dirty="0">
                <a:latin typeface="Times New Roman"/>
                <a:cs typeface="Times New Roman"/>
              </a:rPr>
              <a:t> </a:t>
            </a:r>
            <a:r>
              <a:rPr sz="4000" b="1" spc="-95" dirty="0">
                <a:latin typeface="Times New Roman"/>
                <a:cs typeface="Times New Roman"/>
              </a:rPr>
              <a:t>Guide</a:t>
            </a:r>
            <a:r>
              <a:rPr sz="4000" b="1" spc="-185" dirty="0">
                <a:latin typeface="Times New Roman"/>
                <a:cs typeface="Times New Roman"/>
              </a:rPr>
              <a:t> </a:t>
            </a:r>
            <a:r>
              <a:rPr sz="4000" b="1" spc="-30" dirty="0">
                <a:latin typeface="Times New Roman"/>
                <a:cs typeface="Times New Roman"/>
              </a:rPr>
              <a:t>:-</a:t>
            </a:r>
            <a:r>
              <a:rPr sz="4000" b="1" spc="-210" dirty="0">
                <a:latin typeface="Times New Roman"/>
                <a:cs typeface="Times New Roman"/>
              </a:rPr>
              <a:t> </a:t>
            </a:r>
            <a:r>
              <a:rPr sz="4000" b="1" dirty="0">
                <a:latin typeface="Times New Roman"/>
                <a:cs typeface="Times New Roman"/>
              </a:rPr>
              <a:t>Pro</a:t>
            </a:r>
            <a:r>
              <a:rPr lang="en-IN" sz="4000" b="1" dirty="0">
                <a:latin typeface="Times New Roman"/>
                <a:cs typeface="Times New Roman"/>
              </a:rPr>
              <a:t>f.</a:t>
            </a:r>
            <a:r>
              <a:rPr lang="en-IN" sz="4000" b="1" spc="-210" dirty="0">
                <a:latin typeface="Times New Roman"/>
                <a:cs typeface="Times New Roman"/>
              </a:rPr>
              <a:t> </a:t>
            </a:r>
            <a:r>
              <a:rPr lang="en-IN" sz="4000" b="1" spc="-80" dirty="0">
                <a:latin typeface="Times New Roman"/>
                <a:cs typeface="Times New Roman"/>
              </a:rPr>
              <a:t>Vaishali </a:t>
            </a:r>
            <a:r>
              <a:rPr lang="en-IN" sz="4000" b="1" spc="-80" dirty="0" err="1">
                <a:latin typeface="Times New Roman"/>
                <a:cs typeface="Times New Roman"/>
              </a:rPr>
              <a:t>Kavatekar</a:t>
            </a:r>
            <a:endParaRPr sz="4000" dirty="0">
              <a:latin typeface="Times New Roman"/>
              <a:cs typeface="Times New Roman"/>
            </a:endParaRPr>
          </a:p>
          <a:p>
            <a:pPr marL="2545715" marR="1856739" indent="-635" algn="ctr">
              <a:lnSpc>
                <a:spcPct val="144400"/>
              </a:lnSpc>
              <a:spcBef>
                <a:spcPts val="1770"/>
              </a:spcBef>
              <a:tabLst>
                <a:tab pos="6148070" algn="l"/>
              </a:tabLst>
            </a:pPr>
            <a:r>
              <a:rPr lang="en-IN" sz="4000" spc="105" dirty="0">
                <a:latin typeface="Times New Roman"/>
                <a:cs typeface="Times New Roman"/>
              </a:rPr>
              <a:t>Ryan Dsouza   </a:t>
            </a:r>
            <a:r>
              <a:rPr sz="4000" spc="20" dirty="0">
                <a:latin typeface="Times New Roman"/>
                <a:cs typeface="Times New Roman"/>
              </a:rPr>
              <a:t> </a:t>
            </a:r>
            <a:r>
              <a:rPr sz="4000" spc="-50" dirty="0">
                <a:latin typeface="Times New Roman"/>
                <a:cs typeface="Times New Roman"/>
              </a:rPr>
              <a:t>-</a:t>
            </a:r>
            <a:r>
              <a:rPr sz="4000" dirty="0">
                <a:latin typeface="Times New Roman"/>
                <a:cs typeface="Times New Roman"/>
              </a:rPr>
              <a:t>	</a:t>
            </a:r>
            <a:r>
              <a:rPr lang="en-IN" sz="4000" spc="55" dirty="0">
                <a:latin typeface="Times New Roman"/>
                <a:cs typeface="Times New Roman"/>
              </a:rPr>
              <a:t>T</a:t>
            </a:r>
            <a:r>
              <a:rPr sz="4000" spc="55" dirty="0">
                <a:latin typeface="Times New Roman"/>
                <a:cs typeface="Times New Roman"/>
              </a:rPr>
              <a:t>E</a:t>
            </a:r>
            <a:r>
              <a:rPr lang="en-IN" sz="4000" spc="55" dirty="0">
                <a:latin typeface="Times New Roman"/>
                <a:cs typeface="Times New Roman"/>
              </a:rPr>
              <a:t> </a:t>
            </a:r>
            <a:r>
              <a:rPr sz="4000" spc="155" dirty="0">
                <a:latin typeface="Times New Roman"/>
                <a:cs typeface="Times New Roman"/>
              </a:rPr>
              <a:t>IT </a:t>
            </a:r>
            <a:endParaRPr lang="en-IN" sz="4000" spc="155" dirty="0">
              <a:latin typeface="Times New Roman"/>
              <a:cs typeface="Times New Roman"/>
            </a:endParaRPr>
          </a:p>
          <a:p>
            <a:pPr marL="2545715" marR="1856739" indent="-635" algn="ctr">
              <a:lnSpc>
                <a:spcPct val="144400"/>
              </a:lnSpc>
              <a:spcBef>
                <a:spcPts val="1770"/>
              </a:spcBef>
              <a:tabLst>
                <a:tab pos="6148070" algn="l"/>
              </a:tabLst>
            </a:pPr>
            <a:r>
              <a:rPr lang="en-IN" sz="4000" spc="15" dirty="0">
                <a:latin typeface="Times New Roman"/>
                <a:cs typeface="Times New Roman"/>
              </a:rPr>
              <a:t>Sana </a:t>
            </a:r>
            <a:r>
              <a:rPr lang="en-IN" sz="4000" spc="15" dirty="0" err="1">
                <a:latin typeface="Times New Roman"/>
                <a:cs typeface="Times New Roman"/>
              </a:rPr>
              <a:t>Nadulkeri</a:t>
            </a:r>
            <a:r>
              <a:rPr lang="en-IN" sz="4000" spc="15" dirty="0">
                <a:latin typeface="Times New Roman"/>
                <a:cs typeface="Times New Roman"/>
              </a:rPr>
              <a:t> –</a:t>
            </a:r>
            <a:r>
              <a:rPr sz="4000" spc="15" dirty="0">
                <a:latin typeface="Times New Roman"/>
                <a:cs typeface="Times New Roman"/>
              </a:rPr>
              <a:t> </a:t>
            </a:r>
            <a:r>
              <a:rPr lang="en-IN" sz="4000" spc="55" dirty="0">
                <a:latin typeface="Times New Roman"/>
                <a:cs typeface="Times New Roman"/>
              </a:rPr>
              <a:t>T</a:t>
            </a:r>
            <a:r>
              <a:rPr sz="4000" spc="55" dirty="0">
                <a:latin typeface="Times New Roman"/>
                <a:cs typeface="Times New Roman"/>
              </a:rPr>
              <a:t>E</a:t>
            </a:r>
            <a:r>
              <a:rPr lang="en-IN" sz="4000" spc="55" dirty="0">
                <a:latin typeface="Times New Roman"/>
                <a:cs typeface="Times New Roman"/>
              </a:rPr>
              <a:t> </a:t>
            </a:r>
            <a:r>
              <a:rPr sz="4000" spc="155" dirty="0">
                <a:latin typeface="Times New Roman"/>
                <a:cs typeface="Times New Roman"/>
              </a:rPr>
              <a:t>IT</a:t>
            </a:r>
            <a:endParaRPr lang="en-IN" sz="4000" spc="155" dirty="0">
              <a:latin typeface="Times New Roman"/>
              <a:cs typeface="Times New Roman"/>
            </a:endParaRPr>
          </a:p>
          <a:p>
            <a:pPr marL="2545715" marR="1856739" indent="-635" algn="ctr">
              <a:lnSpc>
                <a:spcPct val="144400"/>
              </a:lnSpc>
              <a:spcBef>
                <a:spcPts val="1770"/>
              </a:spcBef>
              <a:tabLst>
                <a:tab pos="6148070" algn="l"/>
              </a:tabLst>
            </a:pPr>
            <a:r>
              <a:rPr sz="4000" spc="155" dirty="0">
                <a:latin typeface="Times New Roman"/>
                <a:cs typeface="Times New Roman"/>
              </a:rPr>
              <a:t> </a:t>
            </a:r>
            <a:r>
              <a:rPr lang="en-IN" sz="4000" spc="204" dirty="0">
                <a:latin typeface="Times New Roman"/>
                <a:cs typeface="Times New Roman"/>
              </a:rPr>
              <a:t>Jobin Abraham –</a:t>
            </a:r>
            <a:r>
              <a:rPr lang="en-IN" sz="4000" spc="55" dirty="0">
                <a:latin typeface="Times New Roman"/>
                <a:cs typeface="Times New Roman"/>
              </a:rPr>
              <a:t>T</a:t>
            </a:r>
            <a:r>
              <a:rPr sz="4000" spc="55" dirty="0">
                <a:latin typeface="Times New Roman"/>
                <a:cs typeface="Times New Roman"/>
              </a:rPr>
              <a:t>E</a:t>
            </a:r>
            <a:r>
              <a:rPr lang="en-IN" sz="4000" spc="55" dirty="0">
                <a:latin typeface="Times New Roman"/>
                <a:cs typeface="Times New Roman"/>
              </a:rPr>
              <a:t> </a:t>
            </a:r>
            <a:r>
              <a:rPr sz="4000" spc="155" dirty="0">
                <a:latin typeface="Times New Roman"/>
                <a:cs typeface="Times New Roman"/>
              </a:rPr>
              <a:t>IT </a:t>
            </a:r>
            <a:endParaRPr lang="en-IN" sz="4000" spc="155" dirty="0">
              <a:latin typeface="Times New Roman"/>
              <a:cs typeface="Times New Roman"/>
            </a:endParaRPr>
          </a:p>
          <a:p>
            <a:pPr marL="2545715" marR="1856739" indent="-635" algn="ctr">
              <a:lnSpc>
                <a:spcPct val="144400"/>
              </a:lnSpc>
              <a:spcBef>
                <a:spcPts val="1770"/>
              </a:spcBef>
              <a:tabLst>
                <a:tab pos="6148070" algn="l"/>
              </a:tabLst>
            </a:pPr>
            <a:r>
              <a:rPr lang="en-IN" sz="4000" spc="145" dirty="0">
                <a:latin typeface="Times New Roman"/>
                <a:cs typeface="Times New Roman"/>
              </a:rPr>
              <a:t>Rohit Solanki - </a:t>
            </a:r>
            <a:r>
              <a:rPr sz="4000" spc="25" dirty="0">
                <a:latin typeface="Times New Roman"/>
                <a:cs typeface="Times New Roman"/>
              </a:rPr>
              <a:t> </a:t>
            </a:r>
            <a:r>
              <a:rPr lang="en-IN" sz="4000" spc="55" dirty="0">
                <a:latin typeface="Times New Roman"/>
                <a:cs typeface="Times New Roman"/>
              </a:rPr>
              <a:t>TE </a:t>
            </a:r>
            <a:r>
              <a:rPr sz="4000" spc="155" dirty="0">
                <a:latin typeface="Times New Roman"/>
                <a:cs typeface="Times New Roman"/>
              </a:rPr>
              <a:t>IT</a:t>
            </a:r>
            <a:endParaRPr sz="4000" dirty="0">
              <a:latin typeface="Times New Roman"/>
              <a:cs typeface="Times New Roman"/>
            </a:endParaRPr>
          </a:p>
        </p:txBody>
      </p:sp>
      <p:pic>
        <p:nvPicPr>
          <p:cNvPr id="5" name="object 5"/>
          <p:cNvPicPr/>
          <p:nvPr/>
        </p:nvPicPr>
        <p:blipFill>
          <a:blip r:embed="rId3" cstate="print"/>
          <a:stretch>
            <a:fillRect/>
          </a:stretch>
        </p:blipFill>
        <p:spPr>
          <a:xfrm>
            <a:off x="497657" y="465730"/>
            <a:ext cx="1857374" cy="1857374"/>
          </a:xfrm>
          <a:prstGeom prst="rect">
            <a:avLst/>
          </a:prstGeom>
        </p:spPr>
      </p:pic>
      <p:sp>
        <p:nvSpPr>
          <p:cNvPr id="6" name="object 6"/>
          <p:cNvSpPr txBox="1"/>
          <p:nvPr/>
        </p:nvSpPr>
        <p:spPr>
          <a:xfrm>
            <a:off x="5333047" y="2983893"/>
            <a:ext cx="7621905" cy="482600"/>
          </a:xfrm>
          <a:prstGeom prst="rect">
            <a:avLst/>
          </a:prstGeom>
        </p:spPr>
        <p:txBody>
          <a:bodyPr vert="horz" wrap="square" lIns="0" tIns="12700" rIns="0" bIns="0" rtlCol="0">
            <a:spAutoFit/>
          </a:bodyPr>
          <a:lstStyle/>
          <a:p>
            <a:pPr marL="12700">
              <a:lnSpc>
                <a:spcPct val="100000"/>
              </a:lnSpc>
              <a:spcBef>
                <a:spcPts val="100"/>
              </a:spcBef>
            </a:pPr>
            <a:r>
              <a:rPr lang="en-IN" sz="3000" dirty="0">
                <a:latin typeface="Times New Roman"/>
                <a:cs typeface="Times New Roman"/>
              </a:rPr>
              <a:t>T</a:t>
            </a:r>
            <a:r>
              <a:rPr sz="3000" dirty="0">
                <a:latin typeface="Times New Roman"/>
                <a:cs typeface="Times New Roman"/>
              </a:rPr>
              <a:t>.E.(I.T.)</a:t>
            </a:r>
            <a:r>
              <a:rPr sz="3000" spc="45" dirty="0">
                <a:latin typeface="Times New Roman"/>
                <a:cs typeface="Times New Roman"/>
              </a:rPr>
              <a:t> </a:t>
            </a:r>
            <a:r>
              <a:rPr sz="3000" dirty="0">
                <a:latin typeface="Times New Roman"/>
                <a:cs typeface="Times New Roman"/>
              </a:rPr>
              <a:t>/</a:t>
            </a:r>
            <a:r>
              <a:rPr sz="3000" spc="50" dirty="0">
                <a:latin typeface="Times New Roman"/>
                <a:cs typeface="Times New Roman"/>
              </a:rPr>
              <a:t> </a:t>
            </a:r>
            <a:r>
              <a:rPr sz="3000" dirty="0">
                <a:latin typeface="Times New Roman"/>
                <a:cs typeface="Times New Roman"/>
              </a:rPr>
              <a:t>Sem</a:t>
            </a:r>
            <a:r>
              <a:rPr sz="3000" spc="50" dirty="0">
                <a:latin typeface="Times New Roman"/>
                <a:cs typeface="Times New Roman"/>
              </a:rPr>
              <a:t> </a:t>
            </a:r>
            <a:r>
              <a:rPr lang="en-IN" sz="3000" spc="90" dirty="0">
                <a:latin typeface="Times New Roman"/>
                <a:cs typeface="Times New Roman"/>
              </a:rPr>
              <a:t>V</a:t>
            </a:r>
            <a:r>
              <a:rPr sz="3000" spc="50" dirty="0">
                <a:latin typeface="Times New Roman"/>
                <a:cs typeface="Times New Roman"/>
              </a:rPr>
              <a:t> </a:t>
            </a:r>
            <a:r>
              <a:rPr sz="3000" dirty="0">
                <a:latin typeface="Times New Roman"/>
                <a:cs typeface="Times New Roman"/>
              </a:rPr>
              <a:t>/</a:t>
            </a:r>
            <a:r>
              <a:rPr sz="3000" spc="50" dirty="0">
                <a:latin typeface="Times New Roman"/>
                <a:cs typeface="Times New Roman"/>
              </a:rPr>
              <a:t> </a:t>
            </a:r>
            <a:r>
              <a:rPr lang="en-IN" sz="3000" spc="200" dirty="0">
                <a:latin typeface="Times New Roman"/>
                <a:cs typeface="Times New Roman"/>
              </a:rPr>
              <a:t>MINI-</a:t>
            </a:r>
            <a:r>
              <a:rPr sz="3000" spc="50" dirty="0">
                <a:latin typeface="Times New Roman"/>
                <a:cs typeface="Times New Roman"/>
              </a:rPr>
              <a:t> </a:t>
            </a:r>
            <a:r>
              <a:rPr sz="3000" spc="95" dirty="0">
                <a:latin typeface="Times New Roman"/>
                <a:cs typeface="Times New Roman"/>
              </a:rPr>
              <a:t>PROJECT-</a:t>
            </a:r>
            <a:r>
              <a:rPr sz="3000" spc="-20" dirty="0">
                <a:latin typeface="Times New Roman"/>
                <a:cs typeface="Times New Roman"/>
              </a:rPr>
              <a:t>2025</a:t>
            </a:r>
            <a:endParaRPr sz="3000" dirty="0">
              <a:latin typeface="Times New Roman"/>
              <a:cs typeface="Times New Roman"/>
            </a:endParaRPr>
          </a:p>
        </p:txBody>
      </p:sp>
      <p:sp>
        <p:nvSpPr>
          <p:cNvPr id="7" name="TextBox 6">
            <a:extLst>
              <a:ext uri="{FF2B5EF4-FFF2-40B4-BE49-F238E27FC236}">
                <a16:creationId xmlns:a16="http://schemas.microsoft.com/office/drawing/2014/main" id="{329EC8F4-834C-3260-184F-DD7FF1FB964E}"/>
              </a:ext>
            </a:extLst>
          </p:cNvPr>
          <p:cNvSpPr txBox="1"/>
          <p:nvPr/>
        </p:nvSpPr>
        <p:spPr>
          <a:xfrm>
            <a:off x="8229600" y="2059855"/>
            <a:ext cx="11506200" cy="523220"/>
          </a:xfrm>
          <a:prstGeom prst="rect">
            <a:avLst/>
          </a:prstGeom>
          <a:noFill/>
        </p:spPr>
        <p:txBody>
          <a:bodyPr wrap="square" rtlCol="0">
            <a:spAutoFit/>
          </a:bodyPr>
          <a:lstStyle/>
          <a:p>
            <a:r>
              <a:rPr lang="en-IN" sz="2800" dirty="0">
                <a:latin typeface="MV Boli" panose="02000500030200090000" pitchFamily="2" charset="0"/>
                <a:cs typeface="MV Boli" panose="02000500030200090000" pitchFamily="2" charset="0"/>
              </a:rPr>
              <a:t> ~A platform to trade skills and services without money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2C9C-F25C-0477-2FD1-0D049EC5980E}"/>
              </a:ext>
            </a:extLst>
          </p:cNvPr>
          <p:cNvSpPr>
            <a:spLocks noGrp="1"/>
          </p:cNvSpPr>
          <p:nvPr>
            <p:ph type="title"/>
          </p:nvPr>
        </p:nvSpPr>
        <p:spPr>
          <a:xfrm>
            <a:off x="7086600" y="571500"/>
            <a:ext cx="3429001" cy="692497"/>
          </a:xfrm>
        </p:spPr>
        <p:style>
          <a:lnRef idx="2">
            <a:schemeClr val="dk1"/>
          </a:lnRef>
          <a:fillRef idx="1">
            <a:schemeClr val="lt1"/>
          </a:fillRef>
          <a:effectRef idx="0">
            <a:schemeClr val="dk1"/>
          </a:effectRef>
          <a:fontRef idx="minor">
            <a:schemeClr val="dk1"/>
          </a:fontRef>
        </p:style>
        <p:txBody>
          <a:bodyPr/>
          <a:lstStyle/>
          <a:p>
            <a:pPr algn="ctr"/>
            <a:r>
              <a:rPr lang="en-IN" dirty="0"/>
              <a:t>Introduction</a:t>
            </a:r>
          </a:p>
        </p:txBody>
      </p:sp>
      <p:sp>
        <p:nvSpPr>
          <p:cNvPr id="3" name="Text Placeholder 2">
            <a:extLst>
              <a:ext uri="{FF2B5EF4-FFF2-40B4-BE49-F238E27FC236}">
                <a16:creationId xmlns:a16="http://schemas.microsoft.com/office/drawing/2014/main" id="{57666E4E-3289-647C-295E-36FC8BFD73B6}"/>
              </a:ext>
            </a:extLst>
          </p:cNvPr>
          <p:cNvSpPr>
            <a:spLocks noGrp="1"/>
          </p:cNvSpPr>
          <p:nvPr>
            <p:ph type="body" idx="1"/>
          </p:nvPr>
        </p:nvSpPr>
        <p:spPr>
          <a:xfrm>
            <a:off x="342900" y="3848100"/>
            <a:ext cx="17602200" cy="2923877"/>
          </a:xfrm>
        </p:spPr>
        <p:txBody>
          <a:bodyPr/>
          <a:lstStyle/>
          <a:p>
            <a:r>
              <a:rPr lang="en-IN" sz="3800" dirty="0"/>
              <a:t>The Skill Swap Network is a community-driven platform that enables businesses to exchange services and expertise without using money. Instead of monetary transactions, companies offer their strengths in one area in return for services they need. By connecting businesses with complementary skills, the Skill Swap Network encourages cost-effective, inclusive, and sustainable business growth.</a:t>
            </a:r>
          </a:p>
        </p:txBody>
      </p:sp>
    </p:spTree>
    <p:extLst>
      <p:ext uri="{BB962C8B-B14F-4D97-AF65-F5344CB8AC3E}">
        <p14:creationId xmlns:p14="http://schemas.microsoft.com/office/powerpoint/2010/main" val="359881981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836666" y="553538"/>
            <a:ext cx="4898134" cy="711200"/>
          </a:xfrm>
          <a:prstGeom prst="rect">
            <a:avLst/>
          </a:prstGeom>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12700" algn="ctr">
              <a:lnSpc>
                <a:spcPct val="100000"/>
              </a:lnSpc>
              <a:spcBef>
                <a:spcPts val="100"/>
              </a:spcBef>
            </a:pPr>
            <a:r>
              <a:rPr spc="-75" dirty="0"/>
              <a:t>Problem</a:t>
            </a:r>
            <a:r>
              <a:rPr spc="-180" dirty="0"/>
              <a:t> </a:t>
            </a:r>
            <a:r>
              <a:rPr spc="-35" dirty="0"/>
              <a:t>Statement</a:t>
            </a:r>
          </a:p>
        </p:txBody>
      </p:sp>
      <p:sp>
        <p:nvSpPr>
          <p:cNvPr id="3" name="object 3"/>
          <p:cNvSpPr txBox="1"/>
          <p:nvPr/>
        </p:nvSpPr>
        <p:spPr>
          <a:xfrm>
            <a:off x="1572578" y="3367148"/>
            <a:ext cx="15142844" cy="3552704"/>
          </a:xfrm>
          <a:prstGeom prst="rect">
            <a:avLst/>
          </a:prstGeom>
        </p:spPr>
        <p:txBody>
          <a:bodyPr vert="horz" wrap="square" lIns="0" tIns="12065" rIns="0" bIns="0" rtlCol="0">
            <a:spAutoFit/>
          </a:bodyPr>
          <a:lstStyle/>
          <a:p>
            <a:pPr marL="12700" marR="5080">
              <a:lnSpc>
                <a:spcPct val="116599"/>
              </a:lnSpc>
              <a:spcBef>
                <a:spcPts val="95"/>
              </a:spcBef>
            </a:pPr>
            <a:r>
              <a:rPr lang="en-US" sz="4000" dirty="0"/>
              <a:t>Many startups and small businesses cannot afford important services like design, legal help, or marketing due to tight budgets. This slows their growth and puts them at a disadvantage. Meanwhile, these businesses have skills they could exchange but lack a trusted, organized way to do so without money. </a:t>
            </a:r>
            <a:endParaRPr lang="en-US" sz="3700" dirty="0">
              <a:latin typeface="Times New Roman"/>
              <a:cs typeface="Times New Roman"/>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86360">
              <a:lnSpc>
                <a:spcPct val="100000"/>
              </a:lnSpc>
              <a:spcBef>
                <a:spcPts val="100"/>
              </a:spcBef>
            </a:pPr>
            <a:r>
              <a:rPr dirty="0"/>
              <a:t>Scope</a:t>
            </a:r>
            <a:r>
              <a:rPr spc="-90" dirty="0"/>
              <a:t> </a:t>
            </a:r>
            <a:r>
              <a:rPr dirty="0"/>
              <a:t>of</a:t>
            </a:r>
            <a:r>
              <a:rPr spc="-90" dirty="0"/>
              <a:t> </a:t>
            </a:r>
            <a:r>
              <a:rPr spc="-75" dirty="0"/>
              <a:t>Problem</a:t>
            </a:r>
          </a:p>
        </p:txBody>
      </p:sp>
      <p:sp>
        <p:nvSpPr>
          <p:cNvPr id="10" name="TextBox 9">
            <a:extLst>
              <a:ext uri="{FF2B5EF4-FFF2-40B4-BE49-F238E27FC236}">
                <a16:creationId xmlns:a16="http://schemas.microsoft.com/office/drawing/2014/main" id="{ACB31385-FE73-0D0B-BFDB-3A3645FB05BF}"/>
              </a:ext>
            </a:extLst>
          </p:cNvPr>
          <p:cNvSpPr txBox="1"/>
          <p:nvPr/>
        </p:nvSpPr>
        <p:spPr>
          <a:xfrm>
            <a:off x="228599" y="3389173"/>
            <a:ext cx="17830800" cy="3508653"/>
          </a:xfrm>
          <a:prstGeom prst="rect">
            <a:avLst/>
          </a:prstGeom>
          <a:noFill/>
        </p:spPr>
        <p:txBody>
          <a:bodyPr wrap="square">
            <a:spAutoFit/>
          </a:bodyPr>
          <a:lstStyle/>
          <a:p>
            <a:r>
              <a:rPr lang="en-US" sz="3700" b="1" dirty="0"/>
              <a:t>Solution:</a:t>
            </a:r>
            <a:r>
              <a:rPr lang="en-US" sz="3700" dirty="0"/>
              <a:t> A secure, simple platform to list offers/needs, make fair exchanges, and build trust — turning skills into growth instead of spending cash.</a:t>
            </a:r>
          </a:p>
          <a:p>
            <a:r>
              <a:rPr lang="en-US" sz="3700" b="1" dirty="0"/>
              <a:t>Scope:</a:t>
            </a:r>
            <a:endParaRPr lang="en-US" sz="3700" dirty="0"/>
          </a:p>
          <a:p>
            <a:r>
              <a:rPr lang="en-US" sz="3700" b="1" dirty="0"/>
              <a:t>Users:</a:t>
            </a:r>
            <a:r>
              <a:rPr lang="en-US" sz="3700" dirty="0"/>
              <a:t> Startups, freelancers, SMEs</a:t>
            </a:r>
          </a:p>
          <a:p>
            <a:r>
              <a:rPr lang="en-US" sz="3700" b="1" dirty="0"/>
              <a:t>Need:</a:t>
            </a:r>
            <a:r>
              <a:rPr lang="en-US" sz="3700" dirty="0"/>
              <a:t> Affordable services via structured skill exchange</a:t>
            </a:r>
          </a:p>
          <a:p>
            <a:r>
              <a:rPr lang="en-US" sz="3700" b="1" dirty="0"/>
              <a:t>Challenge:</a:t>
            </a:r>
            <a:r>
              <a:rPr lang="en-US" sz="3700" dirty="0"/>
              <a:t> No trusted digital barter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5E5A8-F9D1-C351-163F-E2715E255D58}"/>
              </a:ext>
            </a:extLst>
          </p:cNvPr>
          <p:cNvSpPr>
            <a:spLocks noGrp="1"/>
          </p:cNvSpPr>
          <p:nvPr>
            <p:ph type="title"/>
          </p:nvPr>
        </p:nvSpPr>
        <p:spPr>
          <a:xfrm>
            <a:off x="6958925" y="553538"/>
            <a:ext cx="4547275" cy="711200"/>
          </a:xfrm>
        </p:spPr>
        <p:style>
          <a:lnRef idx="2">
            <a:schemeClr val="dk1"/>
          </a:lnRef>
          <a:fillRef idx="1">
            <a:schemeClr val="lt1"/>
          </a:fillRef>
          <a:effectRef idx="0">
            <a:schemeClr val="dk1"/>
          </a:effectRef>
          <a:fontRef idx="minor">
            <a:schemeClr val="dk1"/>
          </a:fontRef>
        </p:style>
        <p:txBody>
          <a:bodyPr/>
          <a:lstStyle/>
          <a:p>
            <a:pPr algn="ctr"/>
            <a:r>
              <a:rPr lang="en-IN" dirty="0"/>
              <a:t>Current Scenario</a:t>
            </a:r>
          </a:p>
        </p:txBody>
      </p:sp>
      <p:sp>
        <p:nvSpPr>
          <p:cNvPr id="3" name="Text Placeholder 2">
            <a:extLst>
              <a:ext uri="{FF2B5EF4-FFF2-40B4-BE49-F238E27FC236}">
                <a16:creationId xmlns:a16="http://schemas.microsoft.com/office/drawing/2014/main" id="{97257D21-C5AF-0DF4-FE1B-64C5A43880ED}"/>
              </a:ext>
            </a:extLst>
          </p:cNvPr>
          <p:cNvSpPr>
            <a:spLocks noGrp="1"/>
          </p:cNvSpPr>
          <p:nvPr>
            <p:ph type="body" idx="1"/>
          </p:nvPr>
        </p:nvSpPr>
        <p:spPr>
          <a:xfrm>
            <a:off x="838200" y="2781300"/>
            <a:ext cx="16916400" cy="6832640"/>
          </a:xfrm>
        </p:spPr>
        <p:txBody>
          <a:bodyPr/>
          <a:lstStyle/>
          <a:p>
            <a:r>
              <a:rPr lang="en-US" dirty="0"/>
              <a:t>In today’s fast-paced digital economy, access to skills is more critical than ever. However, many individuals—especially freelancers, students, and small business owners—struggle to afford quality training or professional services. While online learning platforms and gig marketplaces exist (like Coursera, Fiverr, and Upwork), they often involve high fees, subscriptions, or monetary transactions that create barriers for those with limited budgets.</a:t>
            </a:r>
          </a:p>
          <a:p>
            <a:r>
              <a:rPr lang="en-US" dirty="0"/>
              <a:t>Traditional barter systems have existed informally through social media groups and local communities, but these lack structure, security, and scalability. There is no mainstream, trusted platform solely dedicated to skill-for-skill exchanges. As a result, countless opportunities for mutual growth and collaboration go untapped.</a:t>
            </a:r>
          </a:p>
          <a:p>
            <a:endParaRPr lang="en-IN" dirty="0"/>
          </a:p>
        </p:txBody>
      </p:sp>
    </p:spTree>
    <p:extLst>
      <p:ext uri="{BB962C8B-B14F-4D97-AF65-F5344CB8AC3E}">
        <p14:creationId xmlns:p14="http://schemas.microsoft.com/office/powerpoint/2010/main" val="304116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48200" y="571500"/>
            <a:ext cx="8686800" cy="705321"/>
          </a:xfrm>
          <a:prstGeom prst="rect">
            <a:avLst/>
          </a:prstGeom>
        </p:spPr>
        <p:style>
          <a:lnRef idx="2">
            <a:schemeClr val="dk1"/>
          </a:lnRef>
          <a:fillRef idx="1">
            <a:schemeClr val="lt1"/>
          </a:fillRef>
          <a:effectRef idx="0">
            <a:schemeClr val="dk1"/>
          </a:effectRef>
          <a:fontRef idx="minor">
            <a:schemeClr val="dk1"/>
          </a:fontRef>
        </p:style>
        <p:txBody>
          <a:bodyPr vert="horz" wrap="square" lIns="0" tIns="12700" rIns="0" bIns="0" rtlCol="0">
            <a:spAutoFit/>
          </a:bodyPr>
          <a:lstStyle/>
          <a:p>
            <a:pPr marL="922655">
              <a:lnSpc>
                <a:spcPct val="100000"/>
              </a:lnSpc>
              <a:spcBef>
                <a:spcPts val="100"/>
              </a:spcBef>
            </a:pPr>
            <a:r>
              <a:rPr lang="en-US" spc="-65" dirty="0"/>
              <a:t>Need for the Proposed System</a:t>
            </a:r>
          </a:p>
        </p:txBody>
      </p:sp>
      <p:sp>
        <p:nvSpPr>
          <p:cNvPr id="4" name="object 4"/>
          <p:cNvSpPr txBox="1">
            <a:spLocks noGrp="1"/>
          </p:cNvSpPr>
          <p:nvPr>
            <p:ph type="body" idx="1"/>
          </p:nvPr>
        </p:nvSpPr>
        <p:spPr>
          <a:xfrm>
            <a:off x="495300" y="2705100"/>
            <a:ext cx="17297400" cy="6845464"/>
          </a:xfrm>
          <a:prstGeom prst="rect">
            <a:avLst/>
          </a:prstGeom>
        </p:spPr>
        <p:txBody>
          <a:bodyPr vert="horz" wrap="square" lIns="0" tIns="12700" rIns="0" bIns="0" rtlCol="0">
            <a:spAutoFit/>
          </a:bodyPr>
          <a:lstStyle/>
          <a:p>
            <a:r>
              <a:rPr lang="en-US" dirty="0"/>
              <a:t>The </a:t>
            </a:r>
            <a:r>
              <a:rPr lang="en-US" b="1" dirty="0"/>
              <a:t>Skill Swap Network</a:t>
            </a:r>
            <a:r>
              <a:rPr lang="en-US" dirty="0"/>
              <a:t> addresses this gap by creating a trusted, structured platform for skill-based exchange. It empowers users to:</a:t>
            </a:r>
          </a:p>
          <a:p>
            <a:pPr marL="571500" indent="-571500">
              <a:buFont typeface="Arial" panose="020B0604020202020204" pitchFamily="34" charset="0"/>
              <a:buChar char="•"/>
            </a:pPr>
            <a:r>
              <a:rPr lang="en-US" dirty="0"/>
              <a:t>Gain services without financial burden, making personal and professional development more accessible.</a:t>
            </a:r>
          </a:p>
          <a:p>
            <a:pPr marL="571500" indent="-571500">
              <a:buFont typeface="Arial" panose="020B0604020202020204" pitchFamily="34" charset="0"/>
              <a:buChar char="•"/>
            </a:pPr>
            <a:r>
              <a:rPr lang="en-US" dirty="0"/>
              <a:t>Maximize underutilized skills by transforming them into a valuable currency.</a:t>
            </a:r>
          </a:p>
          <a:p>
            <a:pPr marL="571500" indent="-571500">
              <a:buFont typeface="Arial" panose="020B0604020202020204" pitchFamily="34" charset="0"/>
              <a:buChar char="•"/>
            </a:pPr>
            <a:r>
              <a:rPr lang="en-US" dirty="0"/>
              <a:t>Build connections and trust in a collaborative community.</a:t>
            </a:r>
          </a:p>
          <a:p>
            <a:pPr marL="571500" indent="-571500">
              <a:buFont typeface="Arial" panose="020B0604020202020204" pitchFamily="34" charset="0"/>
              <a:buChar char="•"/>
            </a:pPr>
            <a:r>
              <a:rPr lang="en-US" dirty="0"/>
              <a:t>Reduce economic inequality by promoting knowledge sharing across diverse social and economic groups.</a:t>
            </a:r>
          </a:p>
          <a:p>
            <a:r>
              <a:rPr lang="en-US" dirty="0"/>
              <a:t>Encourage sustainable development, as skill exchange reduces the need for constant monetary flow and fosters mutual support.</a:t>
            </a:r>
          </a:p>
          <a:p>
            <a:r>
              <a:rPr lang="en-US" dirty="0"/>
              <a:t>Thus, there is a growing need for a digital barter system like the Skill Swap Network that encourages fair, flexible, and community-driven growth.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C20E-3BC5-612E-EEE7-1F34B0ED0F8D}"/>
              </a:ext>
            </a:extLst>
          </p:cNvPr>
          <p:cNvSpPr>
            <a:spLocks noGrp="1"/>
          </p:cNvSpPr>
          <p:nvPr>
            <p:ph type="title"/>
          </p:nvPr>
        </p:nvSpPr>
        <p:spPr>
          <a:xfrm>
            <a:off x="6756062" y="495300"/>
            <a:ext cx="4775875" cy="692497"/>
          </a:xfrm>
        </p:spPr>
        <p:style>
          <a:lnRef idx="2">
            <a:schemeClr val="dk1"/>
          </a:lnRef>
          <a:fillRef idx="1">
            <a:schemeClr val="lt1"/>
          </a:fillRef>
          <a:effectRef idx="0">
            <a:schemeClr val="dk1"/>
          </a:effectRef>
          <a:fontRef idx="minor">
            <a:schemeClr val="dk1"/>
          </a:fontRef>
        </p:style>
        <p:txBody>
          <a:bodyPr/>
          <a:lstStyle/>
          <a:p>
            <a:pPr algn="ctr"/>
            <a:r>
              <a:rPr lang="en-IN" dirty="0"/>
              <a:t>Literature Review </a:t>
            </a:r>
          </a:p>
        </p:txBody>
      </p:sp>
      <p:sp>
        <p:nvSpPr>
          <p:cNvPr id="3" name="Text Placeholder 2">
            <a:extLst>
              <a:ext uri="{FF2B5EF4-FFF2-40B4-BE49-F238E27FC236}">
                <a16:creationId xmlns:a16="http://schemas.microsoft.com/office/drawing/2014/main" id="{A681A050-4B1D-86DE-545F-8021672CC61F}"/>
              </a:ext>
            </a:extLst>
          </p:cNvPr>
          <p:cNvSpPr>
            <a:spLocks noGrp="1"/>
          </p:cNvSpPr>
          <p:nvPr>
            <p:ph type="body" idx="1"/>
          </p:nvPr>
        </p:nvSpPr>
        <p:spPr>
          <a:xfrm>
            <a:off x="1157957" y="2781300"/>
            <a:ext cx="15972085" cy="6832640"/>
          </a:xfrm>
        </p:spPr>
        <p:txBody>
          <a:bodyPr/>
          <a:lstStyle/>
          <a:p>
            <a:r>
              <a:rPr lang="en-US" dirty="0"/>
              <a:t>Skill exchange platforms have roots in concepts like Time Banking and LETS (Local Exchange Trading Systems), where services are traded based on time or mutual benefit rather than money (Cahn, 2000). These systems promote inclusivity and strengthen community bonds.</a:t>
            </a:r>
          </a:p>
          <a:p>
            <a:r>
              <a:rPr lang="en-US" dirty="0"/>
              <a:t>With the rise of the sharing economy, digital platforms such as </a:t>
            </a:r>
            <a:r>
              <a:rPr lang="en-US" i="1" dirty="0" err="1"/>
              <a:t>Skillshare</a:t>
            </a:r>
            <a:r>
              <a:rPr lang="en-US" dirty="0"/>
              <a:t> and </a:t>
            </a:r>
            <a:r>
              <a:rPr lang="en-US" i="1" dirty="0"/>
              <a:t>Simbi</a:t>
            </a:r>
            <a:r>
              <a:rPr lang="en-US" dirty="0"/>
              <a:t> have shown how technology can facilitate peer-to-peer learning and service exchange (</a:t>
            </a:r>
            <a:r>
              <a:rPr lang="en-US" dirty="0" err="1"/>
              <a:t>Botsman</a:t>
            </a:r>
            <a:r>
              <a:rPr lang="en-US" dirty="0"/>
              <a:t> &amp; Rogers, 2010). Research indicates that users are driven not only by cost-saving but also by personal growth and social interaction (Bellotti et al., 2015).</a:t>
            </a:r>
          </a:p>
          <a:p>
            <a:r>
              <a:rPr lang="en-US" dirty="0"/>
              <a:t>Trust is a key factor in these platforms. Features like user reviews, transparency, and verified profiles enhance credibility and encourage participation (Lampinen et al., 2013). </a:t>
            </a:r>
            <a:endParaRPr lang="en-IN" dirty="0"/>
          </a:p>
        </p:txBody>
      </p:sp>
    </p:spTree>
    <p:extLst>
      <p:ext uri="{BB962C8B-B14F-4D97-AF65-F5344CB8AC3E}">
        <p14:creationId xmlns:p14="http://schemas.microsoft.com/office/powerpoint/2010/main" val="480581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2722A-F4D1-3AA0-B0E2-640EB5F09060}"/>
              </a:ext>
            </a:extLst>
          </p:cNvPr>
          <p:cNvSpPr>
            <a:spLocks noGrp="1"/>
          </p:cNvSpPr>
          <p:nvPr>
            <p:ph type="title"/>
          </p:nvPr>
        </p:nvSpPr>
        <p:spPr>
          <a:xfrm>
            <a:off x="6772184" y="571500"/>
            <a:ext cx="5385475" cy="692497"/>
          </a:xfrm>
        </p:spPr>
        <p:style>
          <a:lnRef idx="2">
            <a:schemeClr val="dk1"/>
          </a:lnRef>
          <a:fillRef idx="1">
            <a:schemeClr val="lt1"/>
          </a:fillRef>
          <a:effectRef idx="0">
            <a:schemeClr val="dk1"/>
          </a:effectRef>
          <a:fontRef idx="minor">
            <a:schemeClr val="dk1"/>
          </a:fontRef>
        </p:style>
        <p:txBody>
          <a:bodyPr/>
          <a:lstStyle/>
          <a:p>
            <a:pPr algn="ctr"/>
            <a:r>
              <a:rPr lang="en-IN" dirty="0"/>
              <a:t>System Architecture </a:t>
            </a:r>
          </a:p>
        </p:txBody>
      </p:sp>
      <p:sp>
        <p:nvSpPr>
          <p:cNvPr id="3" name="Text Placeholder 2">
            <a:extLst>
              <a:ext uri="{FF2B5EF4-FFF2-40B4-BE49-F238E27FC236}">
                <a16:creationId xmlns:a16="http://schemas.microsoft.com/office/drawing/2014/main" id="{19F7A6A5-18D8-28D7-13CF-FC9DFE458D7C}"/>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52173BF6-BC05-F143-DFF5-28BE363C8A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8436"/>
            <a:ext cx="18288000" cy="8392864"/>
          </a:xfrm>
          <a:prstGeom prst="rect">
            <a:avLst/>
          </a:prstGeom>
        </p:spPr>
      </p:pic>
    </p:spTree>
    <p:extLst>
      <p:ext uri="{BB962C8B-B14F-4D97-AF65-F5344CB8AC3E}">
        <p14:creationId xmlns:p14="http://schemas.microsoft.com/office/powerpoint/2010/main" val="3534927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12159-3819-59A4-AEF5-6B142FE173B7}"/>
              </a:ext>
            </a:extLst>
          </p:cNvPr>
          <p:cNvSpPr>
            <a:spLocks noGrp="1"/>
          </p:cNvSpPr>
          <p:nvPr>
            <p:ph type="title"/>
          </p:nvPr>
        </p:nvSpPr>
        <p:spPr>
          <a:xfrm>
            <a:off x="7279847" y="571500"/>
            <a:ext cx="4370149" cy="711200"/>
          </a:xfrm>
        </p:spPr>
        <p:style>
          <a:lnRef idx="2">
            <a:schemeClr val="dk1"/>
          </a:lnRef>
          <a:fillRef idx="1">
            <a:schemeClr val="lt1"/>
          </a:fillRef>
          <a:effectRef idx="0">
            <a:schemeClr val="dk1"/>
          </a:effectRef>
          <a:fontRef idx="minor">
            <a:schemeClr val="dk1"/>
          </a:fontRef>
        </p:style>
        <p:txBody>
          <a:bodyPr/>
          <a:lstStyle/>
          <a:p>
            <a:pPr algn="ctr"/>
            <a:r>
              <a:rPr lang="en-IN" dirty="0"/>
              <a:t>Technology Used</a:t>
            </a:r>
          </a:p>
        </p:txBody>
      </p:sp>
      <p:sp>
        <p:nvSpPr>
          <p:cNvPr id="3" name="Text Placeholder 2">
            <a:extLst>
              <a:ext uri="{FF2B5EF4-FFF2-40B4-BE49-F238E27FC236}">
                <a16:creationId xmlns:a16="http://schemas.microsoft.com/office/drawing/2014/main" id="{0BA4AB13-3502-91F3-C7CB-A6801912D6C1}"/>
              </a:ext>
            </a:extLst>
          </p:cNvPr>
          <p:cNvSpPr>
            <a:spLocks noGrp="1"/>
          </p:cNvSpPr>
          <p:nvPr>
            <p:ph type="body" idx="1"/>
          </p:nvPr>
        </p:nvSpPr>
        <p:spPr>
          <a:xfrm>
            <a:off x="1814758" y="2171700"/>
            <a:ext cx="15300325" cy="7971413"/>
          </a:xfrm>
        </p:spPr>
        <p:txBody>
          <a:bodyPr/>
          <a:lstStyle/>
          <a:p>
            <a:r>
              <a:rPr lang="en-IN" b="1" dirty="0"/>
              <a:t>Modern Full Stack</a:t>
            </a:r>
          </a:p>
          <a:p>
            <a:pPr marL="571500" indent="-571500">
              <a:buFont typeface="Wingdings" panose="05000000000000000000" pitchFamily="2" charset="2"/>
              <a:buChar char="Ø"/>
            </a:pPr>
            <a:r>
              <a:rPr lang="en-US" dirty="0"/>
              <a:t>Frontend (Client-Side)</a:t>
            </a:r>
          </a:p>
          <a:p>
            <a:r>
              <a:rPr lang="en-US" dirty="0"/>
              <a:t>The frontend is what users interact with in a web app.</a:t>
            </a:r>
          </a:p>
          <a:p>
            <a:pPr marL="742950" indent="-742950">
              <a:buFont typeface="+mj-lt"/>
              <a:buAutoNum type="arabicPeriod"/>
            </a:pPr>
            <a:r>
              <a:rPr lang="en-IN" dirty="0"/>
              <a:t>React.js (Most popular)</a:t>
            </a:r>
          </a:p>
          <a:p>
            <a:pPr marL="742950" indent="-742950">
              <a:buFont typeface="+mj-lt"/>
              <a:buAutoNum type="arabicPeriod"/>
            </a:pPr>
            <a:r>
              <a:rPr lang="en-IN" dirty="0"/>
              <a:t>Next.js (React + server-side rendering &amp; routing)</a:t>
            </a:r>
          </a:p>
          <a:p>
            <a:endParaRPr lang="en-IN" dirty="0"/>
          </a:p>
          <a:p>
            <a:pPr marL="571500" indent="-571500">
              <a:buFont typeface="Wingdings" panose="05000000000000000000" pitchFamily="2" charset="2"/>
              <a:buChar char="Ø"/>
            </a:pPr>
            <a:r>
              <a:rPr lang="en-US" dirty="0"/>
              <a:t>Backend (Server-Side)</a:t>
            </a:r>
          </a:p>
          <a:p>
            <a:r>
              <a:rPr lang="en-US" dirty="0"/>
              <a:t>The backend handles logic, data processing, and APIs.</a:t>
            </a:r>
          </a:p>
          <a:p>
            <a:pPr marL="742950" indent="-742950">
              <a:buFont typeface="+mj-lt"/>
              <a:buAutoNum type="arabicPeriod"/>
            </a:pPr>
            <a:r>
              <a:rPr lang="en-IN" dirty="0"/>
              <a:t>JavaScript (Node.js)</a:t>
            </a:r>
          </a:p>
          <a:p>
            <a:pPr marL="742950" indent="-742950">
              <a:buFont typeface="+mj-lt"/>
              <a:buAutoNum type="arabicPeriod"/>
            </a:pPr>
            <a:r>
              <a:rPr lang="en-IN" dirty="0"/>
              <a:t>Python (</a:t>
            </a:r>
            <a:r>
              <a:rPr lang="en-IN" dirty="0" err="1"/>
              <a:t>FastAPI</a:t>
            </a:r>
            <a:r>
              <a:rPr lang="en-IN" dirty="0"/>
              <a:t>, Django)</a:t>
            </a:r>
          </a:p>
          <a:p>
            <a:endParaRPr lang="en-IN" dirty="0"/>
          </a:p>
          <a:p>
            <a:pPr marL="571500" indent="-571500">
              <a:buFont typeface="Wingdings" panose="05000000000000000000" pitchFamily="2" charset="2"/>
              <a:buChar char="Ø"/>
            </a:pPr>
            <a:r>
              <a:rPr lang="en-US" dirty="0"/>
              <a:t>Database</a:t>
            </a:r>
          </a:p>
          <a:p>
            <a:r>
              <a:rPr lang="en-US" dirty="0"/>
              <a:t>Databases store the application's data.</a:t>
            </a:r>
          </a:p>
          <a:p>
            <a:pPr marL="742950" indent="-742950">
              <a:buFont typeface="+mj-lt"/>
              <a:buAutoNum type="arabicPeriod"/>
            </a:pPr>
            <a:r>
              <a:rPr lang="en-IN" dirty="0"/>
              <a:t>PostgreSQL</a:t>
            </a:r>
          </a:p>
        </p:txBody>
      </p:sp>
    </p:spTree>
    <p:extLst>
      <p:ext uri="{BB962C8B-B14F-4D97-AF65-F5344CB8AC3E}">
        <p14:creationId xmlns:p14="http://schemas.microsoft.com/office/powerpoint/2010/main" val="710476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1F8F-C210-AD49-6118-108A722E4322}"/>
              </a:ext>
            </a:extLst>
          </p:cNvPr>
          <p:cNvSpPr>
            <a:spLocks noGrp="1"/>
          </p:cNvSpPr>
          <p:nvPr>
            <p:ph type="title"/>
          </p:nvPr>
        </p:nvSpPr>
        <p:spPr>
          <a:xfrm>
            <a:off x="7289462" y="647700"/>
            <a:ext cx="3709075" cy="711200"/>
          </a:xfrm>
        </p:spPr>
        <p:style>
          <a:lnRef idx="2">
            <a:schemeClr val="dk1"/>
          </a:lnRef>
          <a:fillRef idx="1">
            <a:schemeClr val="lt1"/>
          </a:fillRef>
          <a:effectRef idx="0">
            <a:schemeClr val="dk1"/>
          </a:effectRef>
          <a:fontRef idx="minor">
            <a:schemeClr val="dk1"/>
          </a:fontRef>
        </p:style>
        <p:txBody>
          <a:bodyPr/>
          <a:lstStyle/>
          <a:p>
            <a:pPr algn="ctr"/>
            <a:r>
              <a:rPr lang="en-IN" dirty="0"/>
              <a:t>References</a:t>
            </a:r>
          </a:p>
        </p:txBody>
      </p:sp>
      <p:sp>
        <p:nvSpPr>
          <p:cNvPr id="3" name="Text Placeholder 2">
            <a:extLst>
              <a:ext uri="{FF2B5EF4-FFF2-40B4-BE49-F238E27FC236}">
                <a16:creationId xmlns:a16="http://schemas.microsoft.com/office/drawing/2014/main" id="{C3095FA3-32EF-791A-3942-4AE37084C0FD}"/>
              </a:ext>
            </a:extLst>
          </p:cNvPr>
          <p:cNvSpPr>
            <a:spLocks noGrp="1"/>
          </p:cNvSpPr>
          <p:nvPr>
            <p:ph type="body" idx="1"/>
          </p:nvPr>
        </p:nvSpPr>
        <p:spPr>
          <a:xfrm>
            <a:off x="381000" y="2247900"/>
            <a:ext cx="16734085" cy="6832640"/>
          </a:xfrm>
        </p:spPr>
        <p:txBody>
          <a:bodyPr/>
          <a:lstStyle/>
          <a:p>
            <a:pPr marL="571500" indent="-571500">
              <a:buFont typeface="Wingdings" panose="05000000000000000000" pitchFamily="2" charset="2"/>
              <a:buChar char="Ø"/>
            </a:pPr>
            <a:r>
              <a:rPr lang="en-US" b="1" dirty="0" err="1"/>
              <a:t>Botsman</a:t>
            </a:r>
            <a:r>
              <a:rPr lang="en-US" b="1" dirty="0"/>
              <a:t>, R. &amp; Rogers, R. (2010)</a:t>
            </a:r>
            <a:r>
              <a:rPr lang="en-US" dirty="0"/>
              <a:t> – </a:t>
            </a:r>
            <a:r>
              <a:rPr lang="en-US" i="1" dirty="0"/>
              <a:t>What’s Mine Is Yours: The Rise of Collaborative Consumption</a:t>
            </a:r>
            <a:br>
              <a:rPr lang="en-US" dirty="0"/>
            </a:br>
            <a:r>
              <a:rPr lang="en-US" dirty="0"/>
              <a:t>Explores the rise of the sharing economy and how people are shifting from ownership to access, which directly relates to skill swapping.</a:t>
            </a:r>
          </a:p>
          <a:p>
            <a:pPr marL="571500" indent="-571500">
              <a:buFont typeface="Wingdings" panose="05000000000000000000" pitchFamily="2" charset="2"/>
              <a:buChar char="Ø"/>
            </a:pPr>
            <a:r>
              <a:rPr lang="en-IN" b="1" dirty="0"/>
              <a:t>Sundararajan, A. (2016).</a:t>
            </a:r>
            <a:r>
              <a:rPr lang="en-IN" dirty="0"/>
              <a:t> </a:t>
            </a:r>
            <a:r>
              <a:rPr lang="en-IN" i="1" dirty="0"/>
              <a:t>The Sharing Economy:</a:t>
            </a:r>
          </a:p>
          <a:p>
            <a:r>
              <a:rPr lang="en-IN" i="1" dirty="0"/>
              <a:t>The End of Employment and the Rise of Crowd-Based Capitalism</a:t>
            </a:r>
            <a:r>
              <a:rPr lang="en-IN" dirty="0"/>
              <a:t>. MIT Press.</a:t>
            </a:r>
          </a:p>
          <a:p>
            <a:pPr marL="571500" indent="-571500">
              <a:buFont typeface="Wingdings" panose="05000000000000000000" pitchFamily="2" charset="2"/>
              <a:buChar char="Ø"/>
            </a:pPr>
            <a:r>
              <a:rPr lang="en-US" b="1" dirty="0"/>
              <a:t>Agyeman, J., McLaren, D., &amp; Schaefer-Borrego, A. (2013)</a:t>
            </a:r>
            <a:r>
              <a:rPr lang="en-US" dirty="0"/>
              <a:t> – </a:t>
            </a:r>
            <a:r>
              <a:rPr lang="en-US" i="1" dirty="0"/>
              <a:t>Sharing Cities</a:t>
            </a:r>
            <a:br>
              <a:rPr lang="en-US" dirty="0"/>
            </a:br>
            <a:r>
              <a:rPr lang="en-US" dirty="0"/>
              <a:t>Talks about sustainable communities that grow through collaborative exchanges, including timebanks and skill swaps.</a:t>
            </a:r>
          </a:p>
          <a:p>
            <a:pPr marL="571500" indent="-571500">
              <a:buFont typeface="Wingdings" panose="05000000000000000000" pitchFamily="2" charset="2"/>
              <a:buChar char="Ø"/>
            </a:pPr>
            <a:r>
              <a:rPr lang="en-IN" b="1" dirty="0"/>
              <a:t>Resnick, P., &amp; </a:t>
            </a:r>
            <a:r>
              <a:rPr lang="en-IN" b="1" dirty="0" err="1"/>
              <a:t>Zeckhauser</a:t>
            </a:r>
            <a:r>
              <a:rPr lang="en-IN" b="1" dirty="0"/>
              <a:t>, R. (2002).</a:t>
            </a:r>
            <a:r>
              <a:rPr lang="en-IN" dirty="0"/>
              <a:t> </a:t>
            </a:r>
            <a:r>
              <a:rPr lang="en-IN" i="1" dirty="0"/>
              <a:t>Trust among strangers in internet transactions: Empirical analysis of eBay’s reputation system</a:t>
            </a:r>
            <a:r>
              <a:rPr lang="en-IN" dirty="0"/>
              <a:t>. </a:t>
            </a:r>
            <a:r>
              <a:rPr lang="en-IN" i="1" dirty="0"/>
              <a:t>The Economics of the Internet and E-commerce</a:t>
            </a:r>
            <a:r>
              <a:rPr lang="en-IN" dirty="0"/>
              <a:t>, 11(1), 127–157.</a:t>
            </a:r>
            <a:endParaRPr lang="en-US" dirty="0"/>
          </a:p>
        </p:txBody>
      </p:sp>
    </p:spTree>
    <p:extLst>
      <p:ext uri="{BB962C8B-B14F-4D97-AF65-F5344CB8AC3E}">
        <p14:creationId xmlns:p14="http://schemas.microsoft.com/office/powerpoint/2010/main" val="2218953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8875F-ECD9-7FE8-5BE9-AF4B05BC8878}"/>
              </a:ext>
            </a:extLst>
          </p:cNvPr>
          <p:cNvSpPr>
            <a:spLocks noGrp="1"/>
          </p:cNvSpPr>
          <p:nvPr>
            <p:ph type="title"/>
          </p:nvPr>
        </p:nvSpPr>
        <p:spPr>
          <a:xfrm>
            <a:off x="7289462" y="647700"/>
            <a:ext cx="3709075" cy="711200"/>
          </a:xfrm>
        </p:spPr>
        <p:style>
          <a:lnRef idx="2">
            <a:schemeClr val="dk1"/>
          </a:lnRef>
          <a:fillRef idx="1">
            <a:schemeClr val="lt1"/>
          </a:fillRef>
          <a:effectRef idx="0">
            <a:schemeClr val="dk1"/>
          </a:effectRef>
          <a:fontRef idx="minor">
            <a:schemeClr val="dk1"/>
          </a:fontRef>
        </p:style>
        <p:txBody>
          <a:bodyPr/>
          <a:lstStyle/>
          <a:p>
            <a:pPr algn="ctr"/>
            <a:r>
              <a:rPr lang="en-IN" dirty="0"/>
              <a:t>Conclusion</a:t>
            </a:r>
          </a:p>
        </p:txBody>
      </p:sp>
      <p:sp>
        <p:nvSpPr>
          <p:cNvPr id="3" name="Text Placeholder 2">
            <a:extLst>
              <a:ext uri="{FF2B5EF4-FFF2-40B4-BE49-F238E27FC236}">
                <a16:creationId xmlns:a16="http://schemas.microsoft.com/office/drawing/2014/main" id="{B1C0D0F2-C48F-726F-EA70-4FCB406CB619}"/>
              </a:ext>
            </a:extLst>
          </p:cNvPr>
          <p:cNvSpPr>
            <a:spLocks noGrp="1"/>
          </p:cNvSpPr>
          <p:nvPr>
            <p:ph type="body" idx="1"/>
          </p:nvPr>
        </p:nvSpPr>
        <p:spPr>
          <a:xfrm>
            <a:off x="1493836" y="3238500"/>
            <a:ext cx="15300325" cy="5693866"/>
          </a:xfrm>
        </p:spPr>
        <p:txBody>
          <a:bodyPr/>
          <a:lstStyle/>
          <a:p>
            <a:r>
              <a:rPr lang="en-US" dirty="0"/>
              <a:t>The Skill Swap Network reimagines how individuals grow and support one another by fostering a collaborative, cash-free ecosystem rooted in mutual benefit. By enabling skill exchange among startups, freelancers, and individuals, it breaks down economic barriers and builds a culture of shared learning and trust. This platform not only democratizes access to knowledge but also strengthens community bonds, making personal and professional development more inclusive and sustainable for all.</a:t>
            </a:r>
            <a:br>
              <a:rPr lang="en-US" dirty="0"/>
            </a:br>
            <a:endParaRPr lang="en-IN" dirty="0"/>
          </a:p>
          <a:p>
            <a:r>
              <a:rPr lang="en-IN" dirty="0" err="1"/>
              <a:t>Github</a:t>
            </a:r>
            <a:r>
              <a:rPr lang="en-IN" dirty="0"/>
              <a:t> Repository Link:</a:t>
            </a:r>
          </a:p>
          <a:p>
            <a:r>
              <a:rPr lang="en-US" dirty="0"/>
              <a:t>https://github.com/Jobin1804/Git_Github.git</a:t>
            </a:r>
          </a:p>
        </p:txBody>
      </p:sp>
    </p:spTree>
    <p:extLst>
      <p:ext uri="{BB962C8B-B14F-4D97-AF65-F5344CB8AC3E}">
        <p14:creationId xmlns:p14="http://schemas.microsoft.com/office/powerpoint/2010/main" val="1966485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40635" y="4214876"/>
            <a:ext cx="5407025" cy="1427480"/>
          </a:xfrm>
          <a:prstGeom prst="rect">
            <a:avLst/>
          </a:prstGeom>
        </p:spPr>
        <p:txBody>
          <a:bodyPr vert="horz" wrap="square" lIns="0" tIns="12700" rIns="0" bIns="0" rtlCol="0">
            <a:spAutoFit/>
          </a:bodyPr>
          <a:lstStyle/>
          <a:p>
            <a:pPr marL="12700">
              <a:lnSpc>
                <a:spcPct val="100000"/>
              </a:lnSpc>
              <a:spcBef>
                <a:spcPts val="100"/>
              </a:spcBef>
            </a:pPr>
            <a:r>
              <a:rPr sz="9200" spc="-254" dirty="0"/>
              <a:t>Thank</a:t>
            </a:r>
            <a:r>
              <a:rPr sz="9200" spc="10" dirty="0"/>
              <a:t> </a:t>
            </a:r>
            <a:r>
              <a:rPr sz="9200" spc="-994" dirty="0"/>
              <a:t>Y</a:t>
            </a:r>
            <a:r>
              <a:rPr sz="9200" spc="-235" dirty="0"/>
              <a:t>o</a:t>
            </a:r>
            <a:r>
              <a:rPr sz="9200" spc="-229" dirty="0"/>
              <a:t>u</a:t>
            </a:r>
            <a:endParaRPr sz="9200"/>
          </a:p>
        </p:txBody>
      </p:sp>
      <p:pic>
        <p:nvPicPr>
          <p:cNvPr id="3" name="object 3"/>
          <p:cNvPicPr/>
          <p:nvPr/>
        </p:nvPicPr>
        <p:blipFill>
          <a:blip r:embed="rId2" cstate="print"/>
          <a:stretch>
            <a:fillRect/>
          </a:stretch>
        </p:blipFill>
        <p:spPr>
          <a:xfrm>
            <a:off x="0" y="6137647"/>
            <a:ext cx="5207430" cy="4149352"/>
          </a:xfrm>
          <a:prstGeom prst="rect">
            <a:avLst/>
          </a:prstGeom>
        </p:spPr>
      </p:pic>
      <p:pic>
        <p:nvPicPr>
          <p:cNvPr id="4" name="object 4"/>
          <p:cNvPicPr/>
          <p:nvPr/>
        </p:nvPicPr>
        <p:blipFill>
          <a:blip r:embed="rId3" cstate="print"/>
          <a:stretch>
            <a:fillRect/>
          </a:stretch>
        </p:blipFill>
        <p:spPr>
          <a:xfrm>
            <a:off x="14254148" y="0"/>
            <a:ext cx="4033849" cy="50622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92E3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353</TotalTime>
  <Words>946</Words>
  <Application>Microsoft Office PowerPoint</Application>
  <PresentationFormat>Custom</PresentationFormat>
  <Paragraphs>60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Yu Gothic UI Semibold</vt:lpstr>
      <vt:lpstr>Arial</vt:lpstr>
      <vt:lpstr>MV Boli</vt:lpstr>
      <vt:lpstr>Times New Roman</vt:lpstr>
      <vt:lpstr>Wingdings</vt:lpstr>
      <vt:lpstr>Office Theme</vt:lpstr>
      <vt:lpstr>The Skill Swap Network </vt:lpstr>
      <vt:lpstr>Introduction</vt:lpstr>
      <vt:lpstr>Problem Statement</vt:lpstr>
      <vt:lpstr>Scope of Problem</vt:lpstr>
      <vt:lpstr>Current Scenario</vt:lpstr>
      <vt:lpstr>Need for the Proposed System</vt:lpstr>
      <vt:lpstr>Literature Review </vt:lpstr>
      <vt:lpstr>System Architecture </vt:lpstr>
      <vt:lpstr>Technology Used</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2025-26</dc:title>
  <dc:creator>bhoomilandge</dc:creator>
  <cp:keywords>DAGP9Wai0iM,BAENY_buRP4,0</cp:keywords>
  <cp:lastModifiedBy>sana nadulkeri</cp:lastModifiedBy>
  <cp:revision>6</cp:revision>
  <dcterms:created xsi:type="dcterms:W3CDTF">2025-07-31T05:33:56Z</dcterms:created>
  <dcterms:modified xsi:type="dcterms:W3CDTF">2025-08-01T05:20:58Z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2025-07-31T00:00:00Z</vt:filetime>
  </property>
  <property fmtid="{D5CDD505-2E9C-101B-9397-08002B2CF9AE}" pid="3" name="Creator">
    <vt:lpwstr>Canva</vt:lpwstr>
  </property>
  <property fmtid="{D5CDD505-2E9C-101B-9397-08002B2CF9AE}" pid="4" name="LastSaved">
    <vt:filetime>2025-07-31T00:00:00Z</vt:filetime>
  </property>
  <property fmtid="{D5CDD505-2E9C-101B-9397-08002B2CF9AE}" pid="5" name="Producer">
    <vt:lpwstr>Canva</vt:lpwstr>
  </property>
</Properties>
</file>